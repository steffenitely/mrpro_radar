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1" r:id="rId15"/>
    <p:sldId id="269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3" r:id="rId26"/>
    <p:sldId id="284" r:id="rId27"/>
    <p:sldId id="287" r:id="rId28"/>
    <p:sldId id="288" r:id="rId29"/>
    <p:sldId id="285" r:id="rId30"/>
    <p:sldId id="289" r:id="rId31"/>
    <p:sldId id="291" r:id="rId32"/>
    <p:sldId id="292" r:id="rId33"/>
    <p:sldId id="293" r:id="rId34"/>
    <p:sldId id="294" r:id="rId35"/>
    <p:sldId id="295" r:id="rId36"/>
    <p:sldId id="290" r:id="rId37"/>
    <p:sldId id="277" r:id="rId38"/>
    <p:sldId id="270" r:id="rId3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FFBA81-9BAD-5955-DDC1-6C1F38BE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633B3C-3A98-24AA-167E-5A75040E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BE1D98-5CFB-6AE0-FDA1-D458168A7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18439A-1580-063C-6036-9960FDDD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2AD930-46A0-A9E7-ECAB-592466B0F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414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1E6E55-D8B3-46D0-BA75-7C4199AFD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D46E52-4E9D-F097-4F0E-35AFA3907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E7C2B2-C419-AA61-245F-DDA6C06F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1C3393-8A06-EDFE-88EF-86C88273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830E50-E3C5-30E6-B250-F01A973B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194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59B70-A8C9-23E7-0A52-626E0B20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67F40F-6217-B0DE-7856-9C1763770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CE4A5E-4521-D916-E689-9B5657BA8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B4810A-6294-0729-707B-C382ACB0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CC8C6F-E2CA-7F8E-E6E7-0DCCE5EE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6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1A17D2-4286-F074-823C-7E9A0678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A2920A-6CE6-DA52-8172-D2C655DE5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A2AF632-564A-7DB8-658B-FC0A02667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AE1133-74C3-4BAD-A3CA-6316CFD6D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CD2013-DE7F-7226-254B-E7C5C3E44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EF48A5-8329-FC65-BDF0-127B115B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25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4A4E7-2C21-BB9E-72A7-CEAA3FE2A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58F70C-6F83-14E0-2F96-9EF361C20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93B8B8-6102-E38D-3F1B-0FF31820E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EF04535-FA19-DE2D-39E6-674631541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85562D-A923-6787-905F-B929D57C5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DF00832-B022-324C-FF0C-0217AE9A1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0B7D11D-D505-BC14-332B-9FCC891E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23823F1-69DC-81D0-BC2C-9DA37597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780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32C47-725B-9F1F-EF86-AE3037A7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DAF9350-EBEC-06BD-7476-F8F211B5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6FA0AF-9B22-D33A-0170-791A36DF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37567-F075-8961-A23F-105F6D16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22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BE96AA6-CD67-AD9B-C9E1-46946847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5CBC82-8C5D-1CCD-9067-33B204DCB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D4FA19-DB99-F6CE-AF3E-A1D58393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4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FADC5A-7031-FA56-FADB-232EE3A56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FD4E9C-30AD-C74E-9AFF-78E47CC0F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472232-6979-6B4C-232B-E4C20A505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5E1A2A-5C5E-0A15-C02E-370DF967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E761C1-BBD0-D175-2102-27EFAB98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4CD335-92E3-1DAA-F6E8-037C6FD7A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068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8325A-761C-5C27-7972-B0E7ABB2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4463B-8124-2E39-5C3D-8D73B7944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8C57B0-B682-5CAA-C26D-BB4166596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7F772C-31DE-F824-6D24-875900AE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ABA913-73D4-19B0-7469-82DEC7D4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D14282-E182-B27F-EB9B-47065E03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76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B8AAD-CD3E-C88F-FFA8-8F9974F62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B87A81D-5346-D2A7-C3CD-910B3D981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21ADDA-42C1-E190-6870-9FCD7A9A5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F94DF4-1642-6648-BD34-22D7F92B7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A99CB6-AF43-8FAA-4D7E-314B03FA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92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B4A2912-4F80-C6A8-A0D8-7F6FCF4C1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B74C11-0CC6-9663-442D-37A59DB33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3167EF-4FBF-E76D-C5C3-1CA7A61B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6EB97-8400-794C-DFAC-DBFAC1DF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C87268-43F6-8667-AFDE-DF91F918E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32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27D430-A721-0679-872A-6A4C2C306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3F9841-4A9A-E16F-FFF9-D44E5AF7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0A80FC-9926-AAFF-2EF1-08CE4FD98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5AC2C-3AF0-4B01-9E75-3D196987485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E0054A-867D-C4D6-5ED3-51E4E5BA3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02B662-5DA6-D61D-7D01-AB71BFD14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B44A7-44DE-4ED2-91FE-6D48543235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368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06905B-CFE4-9BD9-C590-3F585858A0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Protokoll	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1DDBEE-10C4-B09C-0212-DD0C12E79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Masterarbeit</a:t>
            </a:r>
          </a:p>
        </p:txBody>
      </p:sp>
    </p:spTree>
    <p:extLst>
      <p:ext uri="{BB962C8B-B14F-4D97-AF65-F5344CB8AC3E}">
        <p14:creationId xmlns:p14="http://schemas.microsoft.com/office/powerpoint/2010/main" val="422646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C3988-287C-68D3-9B94-0D8832439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UWB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tests</a:t>
            </a:r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D958525-11B1-8375-6671-71D263A5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095" y="1629014"/>
            <a:ext cx="5099905" cy="212282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97E17CD-E958-E053-3E28-95E0263AE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73" y="1597844"/>
            <a:ext cx="4784832" cy="215399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A82B9EA-446D-8808-6E31-3FDC15D4A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095" y="4101302"/>
            <a:ext cx="5099905" cy="212780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02EBACD3-CCB8-1863-31A3-A6F479A00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07" y="3960076"/>
            <a:ext cx="5506380" cy="2181564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4A00328C-E497-CC26-C935-E7DDC41884E6}"/>
              </a:ext>
            </a:extLst>
          </p:cNvPr>
          <p:cNvSpPr txBox="1"/>
          <p:nvPr/>
        </p:nvSpPr>
        <p:spPr>
          <a:xfrm>
            <a:off x="1633332" y="371135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UWB </a:t>
            </a:r>
            <a:r>
              <a:rPr lang="de-DE" dirty="0" err="1"/>
              <a:t>radar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trigger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065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F37845-8BDC-E6FC-A6D9-BFBF4D80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Stepper Motor </a:t>
            </a:r>
            <a:r>
              <a:rPr lang="de-DE" dirty="0" err="1"/>
              <a:t>Mechanical</a:t>
            </a:r>
            <a:r>
              <a:rPr lang="de-DE" dirty="0"/>
              <a:t> Data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70C829C-7622-220A-29B8-04BBD69B3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Laufrad AT5/20</a:t>
            </a:r>
          </a:p>
          <a:p>
            <a:pPr marL="0" indent="0">
              <a:buNone/>
            </a:pPr>
            <a:r>
              <a:rPr lang="de-DE" dirty="0"/>
              <a:t>- Durchmesser:	d	= 31,88mm</a:t>
            </a:r>
          </a:p>
          <a:p>
            <a:pPr marL="0" indent="0">
              <a:buNone/>
            </a:pPr>
            <a:r>
              <a:rPr lang="de-DE" dirty="0"/>
              <a:t>- Radius:		r 	= 15,94mm</a:t>
            </a:r>
          </a:p>
          <a:p>
            <a:pPr>
              <a:buFontTx/>
              <a:buChar char="-"/>
            </a:pPr>
            <a:r>
              <a:rPr lang="de-DE" dirty="0"/>
              <a:t>Umfang:		U 	= 100,153974mm</a:t>
            </a:r>
          </a:p>
          <a:p>
            <a:pPr>
              <a:buFontTx/>
              <a:buChar char="-"/>
            </a:pPr>
            <a:r>
              <a:rPr lang="de-DE" dirty="0"/>
              <a:t>Auflösung :	20.000 Inkrements </a:t>
            </a:r>
            <a:r>
              <a:rPr lang="de-DE" dirty="0" err="1"/>
              <a:t>proUmdrehung</a:t>
            </a:r>
            <a:endParaRPr lang="de-DE" dirty="0"/>
          </a:p>
          <a:p>
            <a:pPr>
              <a:buFontTx/>
              <a:buChar char="-"/>
            </a:pPr>
            <a:r>
              <a:rPr lang="de-DE" dirty="0"/>
              <a:t>Schrittdistanz	</a:t>
            </a:r>
            <a:r>
              <a:rPr lang="de-DE" dirty="0" err="1"/>
              <a:t>step</a:t>
            </a:r>
            <a:r>
              <a:rPr lang="de-DE" dirty="0"/>
              <a:t>	= 0,005mm (0,0050076987mm)</a:t>
            </a:r>
          </a:p>
          <a:p>
            <a:pPr>
              <a:buFontTx/>
              <a:buChar char="-"/>
            </a:pPr>
            <a:r>
              <a:rPr lang="de-DE" dirty="0" err="1"/>
              <a:t>Speed_min</a:t>
            </a:r>
            <a:r>
              <a:rPr lang="de-DE" dirty="0"/>
              <a:t>	</a:t>
            </a:r>
            <a:r>
              <a:rPr lang="de-DE" dirty="0" err="1"/>
              <a:t>Vmin</a:t>
            </a:r>
            <a:r>
              <a:rPr lang="de-DE" dirty="0"/>
              <a:t>	= 333,3333 </a:t>
            </a:r>
            <a:r>
              <a:rPr lang="de-DE" dirty="0" err="1"/>
              <a:t>Inc</a:t>
            </a:r>
            <a:r>
              <a:rPr lang="de-DE" dirty="0"/>
              <a:t>/s = 1,6666mm/s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551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C27991E-77CC-C62F-E414-6B8926E4E703}"/>
              </a:ext>
            </a:extLst>
          </p:cNvPr>
          <p:cNvSpPr/>
          <p:nvPr/>
        </p:nvSpPr>
        <p:spPr>
          <a:xfrm>
            <a:off x="1820849" y="2226365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0B4E7B1-C360-03A1-4EDB-2C6EE38A19C2}"/>
              </a:ext>
            </a:extLst>
          </p:cNvPr>
          <p:cNvSpPr/>
          <p:nvPr/>
        </p:nvSpPr>
        <p:spPr>
          <a:xfrm>
            <a:off x="3437613" y="2226362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F2B46EB-C780-2945-FDDD-D4CCCB09233C}"/>
              </a:ext>
            </a:extLst>
          </p:cNvPr>
          <p:cNvSpPr txBox="1"/>
          <p:nvPr/>
        </p:nvSpPr>
        <p:spPr>
          <a:xfrm>
            <a:off x="2113394" y="2400154"/>
            <a:ext cx="575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RX1</a:t>
            </a:r>
          </a:p>
          <a:p>
            <a:r>
              <a:rPr lang="de-DE" dirty="0"/>
              <a:t>RX2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022C5C2-2B46-38B3-21A9-94700F3985E8}"/>
              </a:ext>
            </a:extLst>
          </p:cNvPr>
          <p:cNvSpPr txBox="1"/>
          <p:nvPr/>
        </p:nvSpPr>
        <p:spPr>
          <a:xfrm>
            <a:off x="853688" y="2538653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Data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E3FF77C-D612-C9B5-6A51-D06C78338E4F}"/>
              </a:ext>
            </a:extLst>
          </p:cNvPr>
          <p:cNvSpPr txBox="1"/>
          <p:nvPr/>
        </p:nvSpPr>
        <p:spPr>
          <a:xfrm>
            <a:off x="3491215" y="2406966"/>
            <a:ext cx="10536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DC</a:t>
            </a:r>
            <a:br>
              <a:rPr lang="de-DE" dirty="0"/>
            </a:br>
            <a:r>
              <a:rPr lang="de-DE" dirty="0" err="1"/>
              <a:t>Removal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8076FB-533E-BDBD-00BC-E8D829EC7399}"/>
              </a:ext>
            </a:extLst>
          </p:cNvPr>
          <p:cNvSpPr/>
          <p:nvPr/>
        </p:nvSpPr>
        <p:spPr>
          <a:xfrm>
            <a:off x="5054377" y="2226362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14DBC1C-AE61-15C0-1433-1A36B35D8FDF}"/>
              </a:ext>
            </a:extLst>
          </p:cNvPr>
          <p:cNvSpPr txBox="1"/>
          <p:nvPr/>
        </p:nvSpPr>
        <p:spPr>
          <a:xfrm>
            <a:off x="5094131" y="2538653"/>
            <a:ext cx="1056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Variance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5E3F167-4843-CE1E-49D1-6FD960E91543}"/>
              </a:ext>
            </a:extLst>
          </p:cNvPr>
          <p:cNvSpPr/>
          <p:nvPr/>
        </p:nvSpPr>
        <p:spPr>
          <a:xfrm>
            <a:off x="6671141" y="2234310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537EFF3-24C6-4CEE-C23B-2252AA9EAC1C}"/>
              </a:ext>
            </a:extLst>
          </p:cNvPr>
          <p:cNvSpPr txBox="1"/>
          <p:nvPr/>
        </p:nvSpPr>
        <p:spPr>
          <a:xfrm>
            <a:off x="6699192" y="2414914"/>
            <a:ext cx="1104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bin</a:t>
            </a:r>
          </a:p>
          <a:p>
            <a:pPr algn="ctr"/>
            <a:r>
              <a:rPr lang="de-DE" dirty="0" err="1"/>
              <a:t>selection</a:t>
            </a: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DAB69D9-2E12-1B14-8AFB-5516FBFF3A18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>
            <a:off x="1516049" y="2723319"/>
            <a:ext cx="304800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571BCDE-F61A-778F-5823-4E983A8D5C8A}"/>
              </a:ext>
            </a:extLst>
          </p:cNvPr>
          <p:cNvCxnSpPr>
            <a:cxnSpLocks/>
          </p:cNvCxnSpPr>
          <p:nvPr/>
        </p:nvCxnSpPr>
        <p:spPr>
          <a:xfrm>
            <a:off x="2981738" y="2400154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E50F143-4212-59A3-E74E-814C8B32D677}"/>
              </a:ext>
            </a:extLst>
          </p:cNvPr>
          <p:cNvCxnSpPr>
            <a:cxnSpLocks/>
          </p:cNvCxnSpPr>
          <p:nvPr/>
        </p:nvCxnSpPr>
        <p:spPr>
          <a:xfrm>
            <a:off x="2981737" y="2916122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D96E8A2-2AE4-44B2-2997-6689338F0C2B}"/>
              </a:ext>
            </a:extLst>
          </p:cNvPr>
          <p:cNvCxnSpPr>
            <a:cxnSpLocks/>
          </p:cNvCxnSpPr>
          <p:nvPr/>
        </p:nvCxnSpPr>
        <p:spPr>
          <a:xfrm>
            <a:off x="4598503" y="2400154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0CF9C441-1809-B2E4-2262-C8852BDC5E57}"/>
              </a:ext>
            </a:extLst>
          </p:cNvPr>
          <p:cNvCxnSpPr>
            <a:cxnSpLocks/>
          </p:cNvCxnSpPr>
          <p:nvPr/>
        </p:nvCxnSpPr>
        <p:spPr>
          <a:xfrm>
            <a:off x="4598502" y="2916122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CB260AC-8BFD-35C0-BE8D-09D0F21F0862}"/>
              </a:ext>
            </a:extLst>
          </p:cNvPr>
          <p:cNvCxnSpPr>
            <a:cxnSpLocks/>
          </p:cNvCxnSpPr>
          <p:nvPr/>
        </p:nvCxnSpPr>
        <p:spPr>
          <a:xfrm>
            <a:off x="6215267" y="2400154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C9CEF64C-4D09-33FE-A7A6-34A38207059B}"/>
              </a:ext>
            </a:extLst>
          </p:cNvPr>
          <p:cNvCxnSpPr>
            <a:cxnSpLocks/>
          </p:cNvCxnSpPr>
          <p:nvPr/>
        </p:nvCxnSpPr>
        <p:spPr>
          <a:xfrm>
            <a:off x="6215266" y="2916122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BA0C0553-5290-3121-8759-5B193507901F}"/>
              </a:ext>
            </a:extLst>
          </p:cNvPr>
          <p:cNvSpPr txBox="1"/>
          <p:nvPr/>
        </p:nvSpPr>
        <p:spPr>
          <a:xfrm>
            <a:off x="1979875" y="659958"/>
            <a:ext cx="2843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Signal Processing Pipeline: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BCDEFE1-BCBA-CF5D-8EBE-35049788D409}"/>
              </a:ext>
            </a:extLst>
          </p:cNvPr>
          <p:cNvSpPr/>
          <p:nvPr/>
        </p:nvSpPr>
        <p:spPr>
          <a:xfrm>
            <a:off x="8287905" y="2226362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6176072-DB0B-E8CA-F508-28651BF69480}"/>
              </a:ext>
            </a:extLst>
          </p:cNvPr>
          <p:cNvSpPr txBox="1"/>
          <p:nvPr/>
        </p:nvSpPr>
        <p:spPr>
          <a:xfrm>
            <a:off x="8463720" y="2536374"/>
            <a:ext cx="80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Filter?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1638035-7363-B25D-F205-AF988E62D473}"/>
              </a:ext>
            </a:extLst>
          </p:cNvPr>
          <p:cNvCxnSpPr>
            <a:cxnSpLocks/>
          </p:cNvCxnSpPr>
          <p:nvPr/>
        </p:nvCxnSpPr>
        <p:spPr>
          <a:xfrm>
            <a:off x="7832031" y="2392206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8C0C9E7-68C6-1AC0-766C-31BECD7F4D41}"/>
              </a:ext>
            </a:extLst>
          </p:cNvPr>
          <p:cNvCxnSpPr>
            <a:cxnSpLocks/>
          </p:cNvCxnSpPr>
          <p:nvPr/>
        </p:nvCxnSpPr>
        <p:spPr>
          <a:xfrm>
            <a:off x="7832030" y="2908174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 28">
            <a:extLst>
              <a:ext uri="{FF2B5EF4-FFF2-40B4-BE49-F238E27FC236}">
                <a16:creationId xmlns:a16="http://schemas.microsoft.com/office/drawing/2014/main" id="{D2E15151-D7E0-BCFA-C71B-FDEC89A0FA89}"/>
              </a:ext>
            </a:extLst>
          </p:cNvPr>
          <p:cNvSpPr/>
          <p:nvPr/>
        </p:nvSpPr>
        <p:spPr>
          <a:xfrm>
            <a:off x="9904669" y="2226362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EC58B8B-5050-5A76-9A95-C77B148B52DE}"/>
              </a:ext>
            </a:extLst>
          </p:cNvPr>
          <p:cNvSpPr txBox="1"/>
          <p:nvPr/>
        </p:nvSpPr>
        <p:spPr>
          <a:xfrm>
            <a:off x="9952757" y="2392206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Stacking</a:t>
            </a:r>
          </a:p>
          <a:p>
            <a:pPr algn="ctr"/>
            <a:r>
              <a:rPr lang="de-DE" dirty="0" err="1"/>
              <a:t>of</a:t>
            </a:r>
            <a:r>
              <a:rPr lang="de-DE" dirty="0"/>
              <a:t> Rx1&amp;2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0F1C058B-C5B7-BFC9-AB17-C235A4511EDB}"/>
              </a:ext>
            </a:extLst>
          </p:cNvPr>
          <p:cNvCxnSpPr>
            <a:cxnSpLocks/>
          </p:cNvCxnSpPr>
          <p:nvPr/>
        </p:nvCxnSpPr>
        <p:spPr>
          <a:xfrm>
            <a:off x="9448795" y="2392206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5270A86-6675-6BFD-8D5C-B4A9B82F1429}"/>
              </a:ext>
            </a:extLst>
          </p:cNvPr>
          <p:cNvCxnSpPr>
            <a:cxnSpLocks/>
          </p:cNvCxnSpPr>
          <p:nvPr/>
        </p:nvCxnSpPr>
        <p:spPr>
          <a:xfrm>
            <a:off x="9448794" y="2908174"/>
            <a:ext cx="455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28926F5-D74F-5083-8B4B-06F6631715FC}"/>
              </a:ext>
            </a:extLst>
          </p:cNvPr>
          <p:cNvCxnSpPr>
            <a:cxnSpLocks/>
          </p:cNvCxnSpPr>
          <p:nvPr/>
        </p:nvCxnSpPr>
        <p:spPr>
          <a:xfrm>
            <a:off x="10485114" y="3213637"/>
            <a:ext cx="0" cy="469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463B6A93-DFF4-7D8C-DB64-8F52EB05442B}"/>
              </a:ext>
            </a:extLst>
          </p:cNvPr>
          <p:cNvSpPr/>
          <p:nvPr/>
        </p:nvSpPr>
        <p:spPr>
          <a:xfrm>
            <a:off x="9904669" y="3655617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AE994A3B-6F80-C076-D134-6DA41912CFAC}"/>
              </a:ext>
            </a:extLst>
          </p:cNvPr>
          <p:cNvSpPr txBox="1"/>
          <p:nvPr/>
        </p:nvSpPr>
        <p:spPr>
          <a:xfrm>
            <a:off x="10178651" y="3989771"/>
            <a:ext cx="61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PCA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3C8C9DD6-F350-0562-0193-FD3B3565C552}"/>
              </a:ext>
            </a:extLst>
          </p:cNvPr>
          <p:cNvCxnSpPr>
            <a:cxnSpLocks/>
          </p:cNvCxnSpPr>
          <p:nvPr/>
        </p:nvCxnSpPr>
        <p:spPr>
          <a:xfrm flipH="1">
            <a:off x="9460224" y="3870501"/>
            <a:ext cx="4444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C0BB8282-F6D3-28AD-034A-3E2BFE5B32ED}"/>
              </a:ext>
            </a:extLst>
          </p:cNvPr>
          <p:cNvCxnSpPr>
            <a:cxnSpLocks/>
          </p:cNvCxnSpPr>
          <p:nvPr/>
        </p:nvCxnSpPr>
        <p:spPr>
          <a:xfrm flipH="1">
            <a:off x="9460224" y="4359103"/>
            <a:ext cx="4444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hteck 47">
            <a:extLst>
              <a:ext uri="{FF2B5EF4-FFF2-40B4-BE49-F238E27FC236}">
                <a16:creationId xmlns:a16="http://schemas.microsoft.com/office/drawing/2014/main" id="{84A8078C-ADDD-1D34-2DE9-6C9A01054BCE}"/>
              </a:ext>
            </a:extLst>
          </p:cNvPr>
          <p:cNvSpPr/>
          <p:nvPr/>
        </p:nvSpPr>
        <p:spPr>
          <a:xfrm>
            <a:off x="8299335" y="3655617"/>
            <a:ext cx="1160890" cy="9939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3701A02-657F-D0EF-9238-9F023F417AA7}"/>
              </a:ext>
            </a:extLst>
          </p:cNvPr>
          <p:cNvSpPr txBox="1"/>
          <p:nvPr/>
        </p:nvSpPr>
        <p:spPr>
          <a:xfrm>
            <a:off x="8441198" y="3989771"/>
            <a:ext cx="87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Motion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7B03DEE8-0403-D761-74F7-D9DC6EFD9144}"/>
              </a:ext>
            </a:extLst>
          </p:cNvPr>
          <p:cNvSpPr/>
          <p:nvPr/>
        </p:nvSpPr>
        <p:spPr>
          <a:xfrm>
            <a:off x="8022866" y="1622066"/>
            <a:ext cx="3395207" cy="34111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360AF6BB-9B31-1424-0171-303FFA6E168C}"/>
              </a:ext>
            </a:extLst>
          </p:cNvPr>
          <p:cNvSpPr txBox="1"/>
          <p:nvPr/>
        </p:nvSpPr>
        <p:spPr>
          <a:xfrm>
            <a:off x="1884459" y="4359103"/>
            <a:ext cx="3568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Why such </a:t>
            </a:r>
            <a:r>
              <a:rPr lang="de-DE" dirty="0" err="1"/>
              <a:t>low</a:t>
            </a:r>
            <a:r>
              <a:rPr lang="de-DE" dirty="0"/>
              <a:t> </a:t>
            </a:r>
            <a:r>
              <a:rPr lang="de-DE" dirty="0" err="1"/>
              <a:t>correlation</a:t>
            </a:r>
            <a:r>
              <a:rPr lang="de-DE" dirty="0"/>
              <a:t>? </a:t>
            </a:r>
            <a:r>
              <a:rPr lang="de-DE"/>
              <a:t>/ Value </a:t>
            </a:r>
          </a:p>
        </p:txBody>
      </p:sp>
    </p:spTree>
    <p:extLst>
      <p:ext uri="{BB962C8B-B14F-4D97-AF65-F5344CB8AC3E}">
        <p14:creationId xmlns:p14="http://schemas.microsoft.com/office/powerpoint/2010/main" val="408788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9256758-310E-F636-85F9-507716B6B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285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2A5E55B-118A-0963-A4E8-2BD17230D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96" y="548861"/>
            <a:ext cx="9463709" cy="630913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6D2C7A42-C822-9534-94DA-623412D2305E}"/>
              </a:ext>
            </a:extLst>
          </p:cNvPr>
          <p:cNvSpPr txBox="1"/>
          <p:nvPr/>
        </p:nvSpPr>
        <p:spPr>
          <a:xfrm>
            <a:off x="389614" y="32600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3cm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3FF213C-4CA2-C3D4-72CD-6BF3DBC247E8}"/>
              </a:ext>
            </a:extLst>
          </p:cNvPr>
          <p:cNvSpPr txBox="1"/>
          <p:nvPr/>
        </p:nvSpPr>
        <p:spPr>
          <a:xfrm>
            <a:off x="1016709" y="333418"/>
            <a:ext cx="36879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/>
              <a:t>from</a:t>
            </a:r>
            <a:r>
              <a:rPr lang="de-DE" sz="1400" dirty="0"/>
              <a:t> </a:t>
            </a:r>
            <a:r>
              <a:rPr lang="de-DE" sz="1400" dirty="0" err="1"/>
              <a:t>sklearn.decomposition</a:t>
            </a:r>
            <a:r>
              <a:rPr lang="de-DE" sz="1400" dirty="0"/>
              <a:t> </a:t>
            </a:r>
            <a:r>
              <a:rPr lang="de-DE" sz="1400" dirty="0" err="1"/>
              <a:t>import</a:t>
            </a:r>
            <a:r>
              <a:rPr lang="de-DE" sz="1400" dirty="0"/>
              <a:t> PCA - mit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468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3326E-3EFE-19F6-C2A7-E2A28F362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7C8076A-6184-4EDE-950D-5E71FBCF7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32" y="151075"/>
            <a:ext cx="10287000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27922BA-402C-264D-B0A1-96C1882F206C}"/>
              </a:ext>
            </a:extLst>
          </p:cNvPr>
          <p:cNvSpPr txBox="1"/>
          <p:nvPr/>
        </p:nvSpPr>
        <p:spPr>
          <a:xfrm>
            <a:off x="389614" y="326003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1mm</a:t>
            </a:r>
          </a:p>
        </p:txBody>
      </p:sp>
    </p:spTree>
    <p:extLst>
      <p:ext uri="{BB962C8B-B14F-4D97-AF65-F5344CB8AC3E}">
        <p14:creationId xmlns:p14="http://schemas.microsoft.com/office/powerpoint/2010/main" val="372086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501C-F4C4-D2EE-37CD-7F63590A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07085AD-201B-B30E-F7A6-D4B756286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27" y="111318"/>
            <a:ext cx="10287000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8CA9580-4361-6B6E-3D86-CE247FD141B0}"/>
              </a:ext>
            </a:extLst>
          </p:cNvPr>
          <p:cNvSpPr txBox="1"/>
          <p:nvPr/>
        </p:nvSpPr>
        <p:spPr>
          <a:xfrm>
            <a:off x="357809" y="333954"/>
            <a:ext cx="288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1mm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movement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045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A2BD-8524-080E-5E06-1BF35C1D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61ACEEC-A111-56CD-ECE0-2C1DA581F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75C7F0F-3F64-8CFF-5800-C09F08D31031}"/>
              </a:ext>
            </a:extLst>
          </p:cNvPr>
          <p:cNvSpPr txBox="1"/>
          <p:nvPr/>
        </p:nvSpPr>
        <p:spPr>
          <a:xfrm>
            <a:off x="357809" y="33395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0,5mm</a:t>
            </a:r>
          </a:p>
        </p:txBody>
      </p:sp>
    </p:spTree>
    <p:extLst>
      <p:ext uri="{BB962C8B-B14F-4D97-AF65-F5344CB8AC3E}">
        <p14:creationId xmlns:p14="http://schemas.microsoft.com/office/powerpoint/2010/main" val="321578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0CBF6-9E7B-253C-8D9A-5EEB6A74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192B014-347D-2688-34BB-FC81A0BB3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ADA659C-C3F0-21E8-912B-C602FAB5FC09}"/>
              </a:ext>
            </a:extLst>
          </p:cNvPr>
          <p:cNvSpPr txBox="1"/>
          <p:nvPr/>
        </p:nvSpPr>
        <p:spPr>
          <a:xfrm>
            <a:off x="357809" y="333954"/>
            <a:ext cx="2459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0,5mm </a:t>
            </a:r>
            <a:r>
              <a:rPr lang="de-DE" dirty="0" err="1"/>
              <a:t>with</a:t>
            </a:r>
            <a:r>
              <a:rPr lang="de-DE" dirty="0"/>
              <a:t> Movement</a:t>
            </a:r>
          </a:p>
        </p:txBody>
      </p:sp>
    </p:spTree>
    <p:extLst>
      <p:ext uri="{BB962C8B-B14F-4D97-AF65-F5344CB8AC3E}">
        <p14:creationId xmlns:p14="http://schemas.microsoft.com/office/powerpoint/2010/main" val="7105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3385-0B7A-D158-F524-97C7AFA7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E5F56C3-1455-3F1E-EAFA-084BD7850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7ACE58C-69C9-7CDD-6C27-2AB52366CC9E}"/>
              </a:ext>
            </a:extLst>
          </p:cNvPr>
          <p:cNvSpPr txBox="1"/>
          <p:nvPr/>
        </p:nvSpPr>
        <p:spPr>
          <a:xfrm>
            <a:off x="357809" y="333954"/>
            <a:ext cx="2459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0,5mm </a:t>
            </a:r>
            <a:r>
              <a:rPr lang="de-DE" dirty="0" err="1"/>
              <a:t>with</a:t>
            </a:r>
            <a:r>
              <a:rPr lang="de-DE" dirty="0"/>
              <a:t> Movement</a:t>
            </a:r>
          </a:p>
        </p:txBody>
      </p:sp>
    </p:spTree>
    <p:extLst>
      <p:ext uri="{BB962C8B-B14F-4D97-AF65-F5344CB8AC3E}">
        <p14:creationId xmlns:p14="http://schemas.microsoft.com/office/powerpoint/2010/main" val="1995497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3B140-865E-BADA-2F35-D4814EF4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EC1AC62-87EE-06CB-F221-A96770876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72734C3-D7BE-54E2-C69B-6E71E8C00411}"/>
              </a:ext>
            </a:extLst>
          </p:cNvPr>
          <p:cNvSpPr txBox="1"/>
          <p:nvPr/>
        </p:nvSpPr>
        <p:spPr>
          <a:xfrm>
            <a:off x="357809" y="333954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0,25mm</a:t>
            </a:r>
          </a:p>
        </p:txBody>
      </p:sp>
    </p:spTree>
    <p:extLst>
      <p:ext uri="{BB962C8B-B14F-4D97-AF65-F5344CB8AC3E}">
        <p14:creationId xmlns:p14="http://schemas.microsoft.com/office/powerpoint/2010/main" val="1531236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6A578-BFC0-F32B-1620-7A6E9F41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1E4BBA7-A41B-93CD-3DF8-560757BB7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CF84377-C531-3148-BC04-2CAE23F47614}"/>
              </a:ext>
            </a:extLst>
          </p:cNvPr>
          <p:cNvSpPr txBox="1"/>
          <p:nvPr/>
        </p:nvSpPr>
        <p:spPr>
          <a:xfrm>
            <a:off x="357809" y="333954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125um</a:t>
            </a:r>
          </a:p>
        </p:txBody>
      </p:sp>
    </p:spTree>
    <p:extLst>
      <p:ext uri="{BB962C8B-B14F-4D97-AF65-F5344CB8AC3E}">
        <p14:creationId xmlns:p14="http://schemas.microsoft.com/office/powerpoint/2010/main" val="2610050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09E7D10-BC39-EEE1-31B3-D6380993A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992" y="3954384"/>
            <a:ext cx="7577787" cy="270635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1FE1DC7-C62F-02ED-DFDD-208BC1EF9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995" y="722648"/>
            <a:ext cx="7577784" cy="270635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3C65757-8A17-BB1A-D7FA-7A383D2416D5}"/>
              </a:ext>
            </a:extLst>
          </p:cNvPr>
          <p:cNvSpPr txBox="1"/>
          <p:nvPr/>
        </p:nvSpPr>
        <p:spPr>
          <a:xfrm>
            <a:off x="9490779" y="3131585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3cm </a:t>
            </a:r>
            <a:r>
              <a:rPr lang="de-DE" sz="1600" dirty="0" err="1"/>
              <a:t>periodic</a:t>
            </a:r>
            <a:endParaRPr lang="de-DE" sz="16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BFF5CD4-B791-6C42-DE8D-26D14E43197F}"/>
              </a:ext>
            </a:extLst>
          </p:cNvPr>
          <p:cNvSpPr txBox="1"/>
          <p:nvPr/>
        </p:nvSpPr>
        <p:spPr>
          <a:xfrm>
            <a:off x="9490779" y="6365432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1mm </a:t>
            </a:r>
            <a:r>
              <a:rPr lang="de-DE" sz="1600" dirty="0" err="1"/>
              <a:t>periodic</a:t>
            </a:r>
            <a:endParaRPr lang="de-DE" sz="16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F257778-A017-D2C1-93F0-302C75868AB6}"/>
              </a:ext>
            </a:extLst>
          </p:cNvPr>
          <p:cNvSpPr txBox="1"/>
          <p:nvPr/>
        </p:nvSpPr>
        <p:spPr>
          <a:xfrm>
            <a:off x="404890" y="310066"/>
            <a:ext cx="150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PCA </a:t>
            </a:r>
            <a:r>
              <a:rPr lang="de-DE" dirty="0" err="1"/>
              <a:t>vs</a:t>
            </a:r>
            <a:r>
              <a:rPr lang="de-DE" dirty="0"/>
              <a:t> Motor</a:t>
            </a:r>
          </a:p>
        </p:txBody>
      </p:sp>
    </p:spTree>
    <p:extLst>
      <p:ext uri="{BB962C8B-B14F-4D97-AF65-F5344CB8AC3E}">
        <p14:creationId xmlns:p14="http://schemas.microsoft.com/office/powerpoint/2010/main" val="2598553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A0C9F-79AC-7D1A-83B7-300EE648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D8E209F5-6761-F26C-3A0C-4FBA81DCDBBA}"/>
              </a:ext>
            </a:extLst>
          </p:cNvPr>
          <p:cNvSpPr txBox="1"/>
          <p:nvPr/>
        </p:nvSpPr>
        <p:spPr>
          <a:xfrm>
            <a:off x="404890" y="310066"/>
            <a:ext cx="150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PCA </a:t>
            </a:r>
            <a:r>
              <a:rPr lang="de-DE" dirty="0" err="1"/>
              <a:t>vs</a:t>
            </a:r>
            <a:r>
              <a:rPr lang="de-DE" dirty="0"/>
              <a:t> Motor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CDA2D739-FD20-38EC-4030-9DCE7053EA15}"/>
              </a:ext>
            </a:extLst>
          </p:cNvPr>
          <p:cNvSpPr txBox="1"/>
          <p:nvPr/>
        </p:nvSpPr>
        <p:spPr>
          <a:xfrm>
            <a:off x="404890" y="913303"/>
            <a:ext cx="52819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/>
              <a:t>1cm - </a:t>
            </a:r>
            <a:r>
              <a:rPr lang="de-DE" sz="1600" dirty="0" err="1"/>
              <a:t>longer</a:t>
            </a:r>
            <a:r>
              <a:rPr lang="de-DE" sz="1600" dirty="0"/>
              <a:t> pause at Position 2000 and </a:t>
            </a:r>
            <a:r>
              <a:rPr lang="de-DE" sz="1600" dirty="0" err="1"/>
              <a:t>faster</a:t>
            </a:r>
            <a:r>
              <a:rPr lang="de-DE" sz="1600" dirty="0"/>
              <a:t> </a:t>
            </a:r>
            <a:r>
              <a:rPr lang="de-DE" sz="1600" dirty="0" err="1"/>
              <a:t>movement</a:t>
            </a:r>
            <a:r>
              <a:rPr lang="de-DE" sz="1600" dirty="0"/>
              <a:t> 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6BA0BD8-DCE7-40A1-F2CB-14FD960AC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1857"/>
            <a:ext cx="12192000" cy="43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2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38547-B10C-4C1F-54B5-30326643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Regression </a:t>
            </a:r>
            <a:r>
              <a:rPr lang="de-DE" dirty="0" err="1"/>
              <a:t>Comparison</a:t>
            </a:r>
            <a:r>
              <a:rPr lang="de-DE" dirty="0"/>
              <a:t> - </a:t>
            </a:r>
            <a:r>
              <a:rPr lang="de-DE" dirty="0" err="1"/>
              <a:t>Calibration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5A6A49-AA72-7502-E3DB-A1120525C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674" y="4016795"/>
            <a:ext cx="3301438" cy="247607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A7EDD4D-A37C-3154-D5F5-EDD596349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674" y="1525954"/>
            <a:ext cx="3301440" cy="247608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C7BA60C-AF18-A76E-B079-5CF01510F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05" y="4016795"/>
            <a:ext cx="3301439" cy="24760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DA5DF28-BEC6-7890-2C5D-D970021DA3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05" y="1525954"/>
            <a:ext cx="3301438" cy="247608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395078A-F6EF-12F3-3436-6EA1C70411C9}"/>
              </a:ext>
            </a:extLst>
          </p:cNvPr>
          <p:cNvSpPr txBox="1"/>
          <p:nvPr/>
        </p:nvSpPr>
        <p:spPr>
          <a:xfrm>
            <a:off x="3711137" y="2627723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3cm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4178137-947E-F906-B884-7B577A9BF9AB}"/>
              </a:ext>
            </a:extLst>
          </p:cNvPr>
          <p:cNvSpPr txBox="1"/>
          <p:nvPr/>
        </p:nvSpPr>
        <p:spPr>
          <a:xfrm>
            <a:off x="3711137" y="507016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1cm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F0B1838-7375-24A1-7CC9-0409B57ED44D}"/>
              </a:ext>
            </a:extLst>
          </p:cNvPr>
          <p:cNvSpPr txBox="1"/>
          <p:nvPr/>
        </p:nvSpPr>
        <p:spPr>
          <a:xfrm>
            <a:off x="5623646" y="2589680"/>
            <a:ext cx="70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1mm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54B7127-D32A-F596-BA16-FEC772614F1C}"/>
              </a:ext>
            </a:extLst>
          </p:cNvPr>
          <p:cNvSpPr txBox="1"/>
          <p:nvPr/>
        </p:nvSpPr>
        <p:spPr>
          <a:xfrm>
            <a:off x="5548590" y="5070168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0.5mm</a:t>
            </a:r>
          </a:p>
        </p:txBody>
      </p:sp>
    </p:spTree>
    <p:extLst>
      <p:ext uri="{BB962C8B-B14F-4D97-AF65-F5344CB8AC3E}">
        <p14:creationId xmlns:p14="http://schemas.microsoft.com/office/powerpoint/2010/main" val="3649560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5B30C9-F463-81D0-1743-D8FCAAD8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Movement </a:t>
            </a:r>
            <a:r>
              <a:rPr lang="de-DE" dirty="0" err="1"/>
              <a:t>Prediction</a:t>
            </a:r>
            <a:r>
              <a:rPr lang="de-DE" dirty="0"/>
              <a:t>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4657BFF-5631-E008-05AA-DBE15D36B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47" y="1490865"/>
            <a:ext cx="9144018" cy="457200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A44A419-D2AE-4AD6-FC0D-9C89FE15B15F}"/>
              </a:ext>
            </a:extLst>
          </p:cNvPr>
          <p:cNvSpPr txBox="1"/>
          <p:nvPr/>
        </p:nvSpPr>
        <p:spPr>
          <a:xfrm>
            <a:off x="9879496" y="2673626"/>
            <a:ext cx="1771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Calibration</a:t>
            </a:r>
            <a:r>
              <a:rPr lang="de-DE" dirty="0"/>
              <a:t> </a:t>
            </a:r>
          </a:p>
          <a:p>
            <a:r>
              <a:rPr lang="de-DE" dirty="0"/>
              <a:t>Amplitude: 3cm</a:t>
            </a:r>
          </a:p>
        </p:txBody>
      </p:sp>
    </p:spTree>
    <p:extLst>
      <p:ext uri="{BB962C8B-B14F-4D97-AF65-F5344CB8AC3E}">
        <p14:creationId xmlns:p14="http://schemas.microsoft.com/office/powerpoint/2010/main" val="82797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8C0D21-E974-1BFB-6BAB-D05BB130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Better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tracking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18F301E-55A3-880B-F336-6E37D56D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690688"/>
            <a:ext cx="6038850" cy="459830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152A61A-2ABD-577D-6962-D49C568C6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359" y="1858617"/>
            <a:ext cx="4375394" cy="339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32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9F0D9-203A-821D-17A5-6D2D7EC76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With 3cm </a:t>
            </a:r>
            <a:r>
              <a:rPr lang="de-DE" dirty="0" err="1"/>
              <a:t>calibration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3B265F-BADC-EFF8-B943-E2677E0D6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72" y="1690688"/>
            <a:ext cx="5389524" cy="42128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738CC78-20E5-597E-8D15-B2536FB31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308" y="1846095"/>
            <a:ext cx="5052519" cy="378939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0FA1E8E-C056-B712-6985-3D72DA6B2665}"/>
              </a:ext>
            </a:extLst>
          </p:cNvPr>
          <p:cNvSpPr txBox="1"/>
          <p:nvPr/>
        </p:nvSpPr>
        <p:spPr>
          <a:xfrm>
            <a:off x="8328991" y="1570383"/>
            <a:ext cx="2271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Less </a:t>
            </a:r>
            <a:r>
              <a:rPr lang="de-DE" dirty="0" err="1"/>
              <a:t>precise</a:t>
            </a:r>
            <a:r>
              <a:rPr lang="de-DE" dirty="0"/>
              <a:t> </a:t>
            </a:r>
            <a:r>
              <a:rPr lang="de-DE" dirty="0" err="1"/>
              <a:t>tracking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390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7E7BC-F56D-A44F-548D-64D60E00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72" y="-157449"/>
            <a:ext cx="10515600" cy="1325563"/>
          </a:xfrm>
        </p:spPr>
        <p:txBody>
          <a:bodyPr/>
          <a:lstStyle/>
          <a:p>
            <a:r>
              <a:rPr lang="de-DE" dirty="0"/>
              <a:t>With 3 cm </a:t>
            </a:r>
            <a:r>
              <a:rPr lang="de-DE" dirty="0" err="1"/>
              <a:t>calibration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C537E3-7E5D-D60C-1AC4-BBCA16150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544" y="718232"/>
            <a:ext cx="6144374" cy="307218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44BEA4A-C9EA-FBB8-9689-75EDEBF59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670" y="3675133"/>
            <a:ext cx="6212330" cy="310616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3F1E522-06EC-6458-A56D-56F02D6E50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4328"/>
            <a:ext cx="5821616" cy="291080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9A433F-31BB-F56A-5223-9D72DAC2F2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8381"/>
            <a:ext cx="5979670" cy="298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54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7BAB9-3DFE-C6EA-1EB0-9E94F936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EC7928-A55D-6EF2-A50E-571C6B89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72" y="-157449"/>
            <a:ext cx="10515600" cy="1325563"/>
          </a:xfrm>
        </p:spPr>
        <p:txBody>
          <a:bodyPr/>
          <a:lstStyle/>
          <a:p>
            <a:r>
              <a:rPr lang="de-DE" dirty="0"/>
              <a:t>With 1 cm </a:t>
            </a:r>
            <a:r>
              <a:rPr lang="de-DE" dirty="0" err="1"/>
              <a:t>calibration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C2D6BB6-AEC6-6D0F-68AD-EF85DAB92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60128"/>
            <a:ext cx="6096000" cy="3048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7913A30-3FB2-81D9-B69B-FE11C5964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08129"/>
            <a:ext cx="6096000" cy="3048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4C09E62-1138-DC8C-2C2C-DAC13DC71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8128"/>
            <a:ext cx="6096000" cy="304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CA6198E-4055-BEA1-9EA7-9B0A433BFD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0128"/>
            <a:ext cx="609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26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42A59A-7C11-26E5-16D2-DD4FD8AC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25"/>
            <a:ext cx="10515600" cy="1325563"/>
          </a:xfrm>
        </p:spPr>
        <p:txBody>
          <a:bodyPr/>
          <a:lstStyle/>
          <a:p>
            <a:r>
              <a:rPr lang="de-DE" dirty="0"/>
              <a:t>RMSE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923BCC6-8E1E-B786-54FF-5EB2A959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33" y="1967208"/>
            <a:ext cx="8417867" cy="42661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234FDD7-EDC6-ED06-DFF9-8CDFB2963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9" y="-1"/>
            <a:ext cx="4099867" cy="215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65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DDDDF-977B-250C-659A-B119C7E4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PCA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7750C6D-8BA2-D03C-19FD-3EC55867C389}"/>
              </a:ext>
            </a:extLst>
          </p:cNvPr>
          <p:cNvSpPr txBox="1"/>
          <p:nvPr/>
        </p:nvSpPr>
        <p:spPr>
          <a:xfrm>
            <a:off x="1569028" y="1690688"/>
            <a:ext cx="88218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Stack </a:t>
            </a:r>
            <a:r>
              <a:rPr lang="de-DE" dirty="0" err="1"/>
              <a:t>radargram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antennas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calibration</a:t>
            </a:r>
            <a:r>
              <a:rPr lang="de-DE" dirty="0"/>
              <a:t> 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Substract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pca</a:t>
            </a:r>
            <a:r>
              <a:rPr lang="de-DE" dirty="0"/>
              <a:t> = PCA(</a:t>
            </a:r>
            <a:r>
              <a:rPr lang="de-DE" dirty="0" err="1"/>
              <a:t>n_components</a:t>
            </a:r>
            <a:r>
              <a:rPr lang="de-DE" dirty="0"/>
              <a:t>=510)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pca_data</a:t>
            </a:r>
            <a:r>
              <a:rPr lang="de-DE" dirty="0"/>
              <a:t> = </a:t>
            </a:r>
            <a:r>
              <a:rPr lang="de-DE" dirty="0" err="1"/>
              <a:t>pca.fit_transform</a:t>
            </a:r>
            <a:r>
              <a:rPr lang="de-DE" dirty="0"/>
              <a:t>(</a:t>
            </a:r>
            <a:r>
              <a:rPr lang="de-DE" dirty="0" err="1"/>
              <a:t>X_centered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/>
              <a:t>Linearregression </a:t>
            </a:r>
            <a:r>
              <a:rPr lang="de-DE" dirty="0" err="1"/>
              <a:t>with</a:t>
            </a:r>
            <a:r>
              <a:rPr lang="de-DE" dirty="0"/>
              <a:t> (</a:t>
            </a:r>
            <a:r>
              <a:rPr lang="de-DE" dirty="0" err="1"/>
              <a:t>pca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,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positions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Stack </a:t>
            </a:r>
            <a:r>
              <a:rPr lang="de-DE" dirty="0" err="1"/>
              <a:t>radargram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antennas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rndm</a:t>
            </a:r>
            <a:r>
              <a:rPr lang="de-DE" dirty="0"/>
              <a:t> </a:t>
            </a:r>
            <a:r>
              <a:rPr lang="de-DE" dirty="0" err="1"/>
              <a:t>movement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Substract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pca</a:t>
            </a:r>
            <a:r>
              <a:rPr lang="de-DE" dirty="0"/>
              <a:t> = PCA(</a:t>
            </a:r>
            <a:r>
              <a:rPr lang="de-DE" dirty="0" err="1"/>
              <a:t>n_components</a:t>
            </a:r>
            <a:r>
              <a:rPr lang="de-DE" dirty="0"/>
              <a:t>=510)</a:t>
            </a:r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rgbClr val="FF0000"/>
                </a:solidFill>
              </a:rPr>
              <a:t>pca_data_new</a:t>
            </a:r>
            <a:r>
              <a:rPr lang="de-DE" dirty="0">
                <a:solidFill>
                  <a:srgbClr val="FF0000"/>
                </a:solidFill>
              </a:rPr>
              <a:t> = </a:t>
            </a:r>
            <a:r>
              <a:rPr lang="de-DE" dirty="0" err="1">
                <a:solidFill>
                  <a:srgbClr val="FF0000"/>
                </a:solidFill>
              </a:rPr>
              <a:t>pca.fit_transform</a:t>
            </a:r>
            <a:r>
              <a:rPr lang="de-DE" dirty="0">
                <a:solidFill>
                  <a:srgbClr val="FF0000"/>
                </a:solidFill>
              </a:rPr>
              <a:t>(</a:t>
            </a:r>
            <a:r>
              <a:rPr lang="de-DE" dirty="0" err="1">
                <a:solidFill>
                  <a:srgbClr val="FF0000"/>
                </a:solidFill>
              </a:rPr>
              <a:t>X_centered_new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Predit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PCA </a:t>
            </a:r>
            <a:r>
              <a:rPr lang="de-DE" dirty="0" err="1"/>
              <a:t>component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Sometimes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sign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flip</a:t>
            </a: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4345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AD583-DF13-05D8-A62A-80F16389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Pca</a:t>
            </a:r>
            <a:r>
              <a:rPr lang="de-DE" dirty="0"/>
              <a:t>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97C9E70-8629-4BC1-BF94-525609305952}"/>
              </a:ext>
            </a:extLst>
          </p:cNvPr>
          <p:cNvSpPr txBox="1"/>
          <p:nvPr/>
        </p:nvSpPr>
        <p:spPr>
          <a:xfrm>
            <a:off x="81396" y="2029116"/>
            <a:ext cx="60942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Stack </a:t>
            </a:r>
            <a:r>
              <a:rPr lang="de-DE" dirty="0" err="1"/>
              <a:t>radargram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antennas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calibration</a:t>
            </a:r>
            <a:r>
              <a:rPr lang="de-DE" dirty="0"/>
              <a:t> 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Substract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pca</a:t>
            </a:r>
            <a:r>
              <a:rPr lang="de-DE" dirty="0"/>
              <a:t> = PCA(</a:t>
            </a:r>
            <a:r>
              <a:rPr lang="de-DE" dirty="0" err="1"/>
              <a:t>n_components</a:t>
            </a:r>
            <a:r>
              <a:rPr lang="de-DE" dirty="0"/>
              <a:t>=510)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pca_data</a:t>
            </a:r>
            <a:r>
              <a:rPr lang="de-DE" dirty="0"/>
              <a:t> = </a:t>
            </a:r>
            <a:r>
              <a:rPr lang="de-DE" dirty="0" err="1"/>
              <a:t>pca.fit_transform</a:t>
            </a:r>
            <a:r>
              <a:rPr lang="de-DE" dirty="0"/>
              <a:t>(</a:t>
            </a:r>
            <a:r>
              <a:rPr lang="de-DE" dirty="0" err="1"/>
              <a:t>M_calibration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LinearRegression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(</a:t>
            </a:r>
            <a:r>
              <a:rPr lang="de-DE" dirty="0" err="1"/>
              <a:t>pca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,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positions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Stack </a:t>
            </a:r>
            <a:r>
              <a:rPr lang="de-DE" dirty="0" err="1"/>
              <a:t>radargram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antennas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rndm</a:t>
            </a:r>
            <a:r>
              <a:rPr lang="de-DE" dirty="0"/>
              <a:t> </a:t>
            </a:r>
            <a:r>
              <a:rPr lang="de-DE" dirty="0" err="1"/>
              <a:t>movement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Substract</a:t>
            </a:r>
            <a:r>
              <a:rPr lang="de-DE" dirty="0"/>
              <a:t> </a:t>
            </a:r>
            <a:r>
              <a:rPr lang="de-DE" b="1" dirty="0" err="1"/>
              <a:t>mean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calibration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rgbClr val="FF0000"/>
                </a:solidFill>
              </a:rPr>
              <a:t>pca_data_new</a:t>
            </a:r>
            <a:r>
              <a:rPr lang="de-DE" dirty="0">
                <a:solidFill>
                  <a:srgbClr val="FF0000"/>
                </a:solidFill>
              </a:rPr>
              <a:t> = </a:t>
            </a:r>
            <a:r>
              <a:rPr lang="de-DE" dirty="0" err="1">
                <a:solidFill>
                  <a:srgbClr val="FF0000"/>
                </a:solidFill>
              </a:rPr>
              <a:t>pca.fit_transform</a:t>
            </a:r>
            <a:r>
              <a:rPr lang="de-DE" dirty="0">
                <a:solidFill>
                  <a:srgbClr val="FF0000"/>
                </a:solidFill>
              </a:rPr>
              <a:t>(</a:t>
            </a:r>
            <a:r>
              <a:rPr lang="de-DE" dirty="0" err="1">
                <a:solidFill>
                  <a:srgbClr val="FF0000"/>
                </a:solidFill>
              </a:rPr>
              <a:t>M_movement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Predit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PCA </a:t>
            </a:r>
            <a:r>
              <a:rPr lang="de-DE" dirty="0" err="1"/>
              <a:t>component</a:t>
            </a:r>
            <a:r>
              <a:rPr lang="de-DE" dirty="0"/>
              <a:t> and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 still </a:t>
            </a:r>
            <a:r>
              <a:rPr lang="de-DE" dirty="0" err="1">
                <a:sym typeface="Wingdings" panose="05000000000000000000" pitchFamily="2" charset="2"/>
              </a:rPr>
              <a:t>sign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flip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2279A7F-8DCB-DFCA-8A47-932BA6FF8C70}"/>
              </a:ext>
            </a:extLst>
          </p:cNvPr>
          <p:cNvSpPr txBox="1"/>
          <p:nvPr/>
        </p:nvSpPr>
        <p:spPr>
          <a:xfrm>
            <a:off x="6097732" y="2046671"/>
            <a:ext cx="60942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Stack </a:t>
            </a:r>
            <a:r>
              <a:rPr lang="de-DE" dirty="0" err="1"/>
              <a:t>radargram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antennas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calibration</a:t>
            </a:r>
            <a:r>
              <a:rPr lang="de-DE" dirty="0"/>
              <a:t> 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Substract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pca</a:t>
            </a:r>
            <a:r>
              <a:rPr lang="de-DE" dirty="0"/>
              <a:t> = PCA(</a:t>
            </a:r>
            <a:r>
              <a:rPr lang="de-DE" dirty="0" err="1"/>
              <a:t>n_components</a:t>
            </a:r>
            <a:r>
              <a:rPr lang="de-DE" dirty="0"/>
              <a:t>=510)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pca_data</a:t>
            </a:r>
            <a:r>
              <a:rPr lang="de-DE" dirty="0"/>
              <a:t> = </a:t>
            </a:r>
            <a:r>
              <a:rPr lang="de-DE" dirty="0" err="1"/>
              <a:t>pca.fit_transform</a:t>
            </a:r>
            <a:r>
              <a:rPr lang="de-DE" dirty="0"/>
              <a:t>(</a:t>
            </a:r>
            <a:r>
              <a:rPr lang="de-DE" dirty="0" err="1"/>
              <a:t>M_calibration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LinearRegression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(</a:t>
            </a:r>
            <a:r>
              <a:rPr lang="de-DE" dirty="0" err="1"/>
              <a:t>pca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component</a:t>
            </a:r>
            <a:r>
              <a:rPr lang="de-DE" dirty="0"/>
              <a:t>, </a:t>
            </a:r>
            <a:r>
              <a:rPr lang="de-DE" dirty="0" err="1"/>
              <a:t>motor</a:t>
            </a:r>
            <a:r>
              <a:rPr lang="de-DE" dirty="0"/>
              <a:t> </a:t>
            </a:r>
            <a:r>
              <a:rPr lang="de-DE" dirty="0" err="1"/>
              <a:t>positions</a:t>
            </a:r>
            <a:r>
              <a:rPr lang="de-DE" dirty="0"/>
              <a:t>)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Stack </a:t>
            </a:r>
            <a:r>
              <a:rPr lang="de-DE" dirty="0" err="1"/>
              <a:t>radargram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antennas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rndm</a:t>
            </a:r>
            <a:r>
              <a:rPr lang="de-DE" dirty="0"/>
              <a:t> </a:t>
            </a:r>
            <a:r>
              <a:rPr lang="de-DE" dirty="0" err="1"/>
              <a:t>movement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/>
              <a:t>Substract</a:t>
            </a:r>
            <a:r>
              <a:rPr lang="de-DE" dirty="0"/>
              <a:t> </a:t>
            </a:r>
            <a:r>
              <a:rPr lang="de-DE" b="1" dirty="0" err="1"/>
              <a:t>mean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calibration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matrix</a:t>
            </a: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 err="1">
                <a:solidFill>
                  <a:srgbClr val="FF0000"/>
                </a:solidFill>
              </a:rPr>
              <a:t>pca_data_new</a:t>
            </a:r>
            <a:r>
              <a:rPr lang="de-DE" dirty="0">
                <a:solidFill>
                  <a:srgbClr val="FF0000"/>
                </a:solidFill>
              </a:rPr>
              <a:t> = </a:t>
            </a:r>
            <a:r>
              <a:rPr lang="de-DE" dirty="0" err="1">
                <a:solidFill>
                  <a:srgbClr val="FF0000"/>
                </a:solidFill>
              </a:rPr>
              <a:t>pca.</a:t>
            </a:r>
            <a:r>
              <a:rPr lang="de-DE" b="1" dirty="0" err="1">
                <a:solidFill>
                  <a:srgbClr val="FF0000"/>
                </a:solidFill>
              </a:rPr>
              <a:t>transform</a:t>
            </a:r>
            <a:r>
              <a:rPr lang="de-DE" dirty="0">
                <a:solidFill>
                  <a:srgbClr val="FF0000"/>
                </a:solidFill>
              </a:rPr>
              <a:t>(</a:t>
            </a:r>
            <a:r>
              <a:rPr lang="de-DE" dirty="0" err="1">
                <a:solidFill>
                  <a:srgbClr val="FF0000"/>
                </a:solidFill>
              </a:rPr>
              <a:t>M_movement</a:t>
            </a:r>
            <a:r>
              <a:rPr lang="de-DE" dirty="0">
                <a:solidFill>
                  <a:srgbClr val="FF0000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Predit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PCA </a:t>
            </a:r>
            <a:r>
              <a:rPr lang="de-DE" dirty="0" err="1"/>
              <a:t>component</a:t>
            </a:r>
            <a:r>
              <a:rPr lang="de-DE" dirty="0"/>
              <a:t> and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Not </a:t>
            </a:r>
            <a:r>
              <a:rPr lang="de-DE" dirty="0" err="1">
                <a:sym typeface="Wingdings" panose="05000000000000000000" pitchFamily="2" charset="2"/>
              </a:rPr>
              <a:t>useable</a:t>
            </a:r>
            <a:r>
              <a:rPr lang="de-DE" dirty="0">
                <a:sym typeface="Wingdings" panose="05000000000000000000" pitchFamily="2" charset="2"/>
              </a:rPr>
              <a:t> + </a:t>
            </a:r>
            <a:r>
              <a:rPr lang="de-DE" dirty="0" err="1">
                <a:sym typeface="Wingdings" panose="05000000000000000000" pitchFamily="2" charset="2"/>
              </a:rPr>
              <a:t>sign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flip</a:t>
            </a:r>
            <a:r>
              <a:rPr lang="de-DE" dirty="0">
                <a:sym typeface="Wingdings" panose="05000000000000000000" pitchFamily="2" charset="2"/>
              </a:rPr>
              <a:t>?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7327545-7A07-BDFE-894D-3D544BEF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097" y="5344879"/>
            <a:ext cx="2480382" cy="181560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8826E63-C424-9E7A-6B35-8CF6497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538" y="5247409"/>
            <a:ext cx="3315748" cy="170252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ED660BF-3F18-2B88-2E42-42C39EA7F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21" y="5722435"/>
            <a:ext cx="1437470" cy="106049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86742E4-5B46-8626-54A0-FCA341F4F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919" y="5554855"/>
            <a:ext cx="2613295" cy="130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6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81398-C76F-11F2-08EA-709C5488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Slow </a:t>
            </a:r>
            <a:r>
              <a:rPr lang="de-DE" dirty="0" err="1"/>
              <a:t>calibration</a:t>
            </a:r>
            <a:r>
              <a:rPr lang="de-DE" dirty="0"/>
              <a:t> and </a:t>
            </a:r>
            <a:r>
              <a:rPr lang="de-DE" dirty="0" err="1"/>
              <a:t>no</a:t>
            </a:r>
            <a:r>
              <a:rPr lang="de-DE" dirty="0"/>
              <a:t> extremes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B88E598-C900-AD35-35DB-EA1D4A6AA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86" y="1690687"/>
            <a:ext cx="4426446" cy="335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5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824AE7-0CF7-6E9C-417F-4F8C63F3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Split </a:t>
            </a:r>
            <a:r>
              <a:rPr lang="de-DE" dirty="0" err="1"/>
              <a:t>measurement</a:t>
            </a:r>
            <a:r>
              <a:rPr lang="de-DE" dirty="0"/>
              <a:t> -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sign</a:t>
            </a:r>
            <a:r>
              <a:rPr lang="de-DE" dirty="0"/>
              <a:t> </a:t>
            </a:r>
            <a:r>
              <a:rPr lang="de-DE" dirty="0" err="1"/>
              <a:t>flip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D1FE0C4-95F8-A764-5070-13EBFF630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08" y="2054511"/>
            <a:ext cx="6862440" cy="351974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4D924B3-742B-67AD-4375-B6D281C3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448" y="1229602"/>
            <a:ext cx="4004293" cy="198747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6D56C2D-C8B4-A14E-C368-7F8ABEAB2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34" y="3743898"/>
            <a:ext cx="3895207" cy="205056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A9DC92C0-0FEB-4B44-C498-7E475B956A7C}"/>
              </a:ext>
            </a:extLst>
          </p:cNvPr>
          <p:cNvSpPr txBox="1"/>
          <p:nvPr/>
        </p:nvSpPr>
        <p:spPr>
          <a:xfrm>
            <a:off x="1039259" y="538959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0-3cm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2F6931B-F53E-4947-54E2-AFD7F5BBC245}"/>
              </a:ext>
            </a:extLst>
          </p:cNvPr>
          <p:cNvSpPr txBox="1"/>
          <p:nvPr/>
        </p:nvSpPr>
        <p:spPr>
          <a:xfrm>
            <a:off x="7775339" y="5799070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0-5mm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F964BD-A66B-5FB9-63F6-D6BB1BAD45C2}"/>
              </a:ext>
            </a:extLst>
          </p:cNvPr>
          <p:cNvSpPr txBox="1"/>
          <p:nvPr/>
        </p:nvSpPr>
        <p:spPr>
          <a:xfrm>
            <a:off x="7360802" y="3114102"/>
            <a:ext cx="81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0-1cm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719952B-A560-5B99-74F4-98AC39E34F5B}"/>
              </a:ext>
            </a:extLst>
          </p:cNvPr>
          <p:cNvSpPr txBox="1"/>
          <p:nvPr/>
        </p:nvSpPr>
        <p:spPr>
          <a:xfrm>
            <a:off x="4444778" y="6168402"/>
            <a:ext cx="1977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Calibration</a:t>
            </a:r>
            <a:r>
              <a:rPr lang="de-DE" dirty="0"/>
              <a:t> 0-3cm</a:t>
            </a:r>
          </a:p>
        </p:txBody>
      </p:sp>
    </p:spTree>
    <p:extLst>
      <p:ext uri="{BB962C8B-B14F-4D97-AF65-F5344CB8AC3E}">
        <p14:creationId xmlns:p14="http://schemas.microsoft.com/office/powerpoint/2010/main" val="1703305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F8585-BBD7-BF7D-4628-4EE05397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06FB5-2B8D-F6CE-FD95-156CCA20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split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 -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sign</a:t>
            </a:r>
            <a:r>
              <a:rPr lang="de-DE" dirty="0"/>
              <a:t> </a:t>
            </a:r>
            <a:r>
              <a:rPr lang="de-DE" dirty="0" err="1"/>
              <a:t>flip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1E14CC3-AD40-F3E7-E283-F4DEEA5776AC}"/>
              </a:ext>
            </a:extLst>
          </p:cNvPr>
          <p:cNvSpPr txBox="1"/>
          <p:nvPr/>
        </p:nvSpPr>
        <p:spPr>
          <a:xfrm>
            <a:off x="1039259" y="5389590"/>
            <a:ext cx="81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0-1cm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87E1C9F-33F4-87C2-293F-321812AC6A3C}"/>
              </a:ext>
            </a:extLst>
          </p:cNvPr>
          <p:cNvSpPr txBox="1"/>
          <p:nvPr/>
        </p:nvSpPr>
        <p:spPr>
          <a:xfrm>
            <a:off x="7775339" y="5799070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0-5mm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487A742-ACA8-E981-45C9-0A35C8529E9C}"/>
              </a:ext>
            </a:extLst>
          </p:cNvPr>
          <p:cNvSpPr txBox="1"/>
          <p:nvPr/>
        </p:nvSpPr>
        <p:spPr>
          <a:xfrm>
            <a:off x="7360802" y="311410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0-3cm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25A0F04-A5E5-84B4-ED81-E5DA74CD4F5A}"/>
              </a:ext>
            </a:extLst>
          </p:cNvPr>
          <p:cNvSpPr txBox="1"/>
          <p:nvPr/>
        </p:nvSpPr>
        <p:spPr>
          <a:xfrm>
            <a:off x="4444778" y="6168402"/>
            <a:ext cx="1960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Calibration</a:t>
            </a:r>
            <a:r>
              <a:rPr lang="de-DE" dirty="0"/>
              <a:t> 0-1cm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26A33DF-3882-AE6E-E0A6-5F19F3D07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43" y="2103970"/>
            <a:ext cx="6398941" cy="327435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44EAF07-578D-3ABD-A5F1-7FFFAB11C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626" y="1033460"/>
            <a:ext cx="4364034" cy="21410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A84EC4DE-66F8-5330-8168-EEC58B0A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486" y="3741919"/>
            <a:ext cx="4130314" cy="208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07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32B9-16E4-587F-B627-D35A3908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2D6A5DA-A5C5-3D63-2F13-C26639E4F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78" y="1397949"/>
            <a:ext cx="4569030" cy="233103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F4E63C8-140C-FAF9-EE8B-7BE38839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split</a:t>
            </a:r>
            <a:r>
              <a:rPr lang="de-DE" dirty="0"/>
              <a:t> </a:t>
            </a:r>
            <a:r>
              <a:rPr lang="de-DE" dirty="0" err="1"/>
              <a:t>measurement</a:t>
            </a:r>
            <a:r>
              <a:rPr lang="de-DE" dirty="0"/>
              <a:t> -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sign</a:t>
            </a:r>
            <a:r>
              <a:rPr lang="de-DE" dirty="0"/>
              <a:t> </a:t>
            </a:r>
            <a:r>
              <a:rPr lang="de-DE" dirty="0" err="1"/>
              <a:t>flip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8615D0A-3E24-FE1B-CB06-D00EB36B3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307" y="1397949"/>
            <a:ext cx="4696503" cy="233103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D53FE7B-4B92-0E65-1FD0-8973244B6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660" y="3909065"/>
            <a:ext cx="4291796" cy="2259337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95A4519-F99D-4B77-A523-11F236358385}"/>
              </a:ext>
            </a:extLst>
          </p:cNvPr>
          <p:cNvSpPr txBox="1"/>
          <p:nvPr/>
        </p:nvSpPr>
        <p:spPr>
          <a:xfrm>
            <a:off x="4887815" y="3208207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1-2cm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CDD8BDF-F644-50BD-E403-C7267AF208DB}"/>
              </a:ext>
            </a:extLst>
          </p:cNvPr>
          <p:cNvSpPr txBox="1"/>
          <p:nvPr/>
        </p:nvSpPr>
        <p:spPr>
          <a:xfrm>
            <a:off x="10916456" y="5684308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0-5mm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52B8482-159A-679B-4BE4-F46269A9A6B8}"/>
              </a:ext>
            </a:extLst>
          </p:cNvPr>
          <p:cNvSpPr txBox="1"/>
          <p:nvPr/>
        </p:nvSpPr>
        <p:spPr>
          <a:xfrm>
            <a:off x="10830457" y="3222034"/>
            <a:ext cx="81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0-1cm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8ED34B0-6E37-3823-AE6B-B4AF26DAC9F6}"/>
              </a:ext>
            </a:extLst>
          </p:cNvPr>
          <p:cNvSpPr txBox="1"/>
          <p:nvPr/>
        </p:nvSpPr>
        <p:spPr>
          <a:xfrm>
            <a:off x="5107235" y="6308209"/>
            <a:ext cx="1977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Calibration</a:t>
            </a:r>
            <a:r>
              <a:rPr lang="de-DE" dirty="0"/>
              <a:t> 0-3cm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25CDA95-7193-E7CB-4007-76A8D24B7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027133"/>
            <a:ext cx="4464152" cy="217033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04268F52-EF25-D8DC-D6E9-7894D2448C91}"/>
              </a:ext>
            </a:extLst>
          </p:cNvPr>
          <p:cNvSpPr txBox="1"/>
          <p:nvPr/>
        </p:nvSpPr>
        <p:spPr>
          <a:xfrm>
            <a:off x="4959281" y="5744079"/>
            <a:ext cx="1930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1,25-1,75cm</a:t>
            </a:r>
          </a:p>
        </p:txBody>
      </p:sp>
    </p:spTree>
    <p:extLst>
      <p:ext uri="{BB962C8B-B14F-4D97-AF65-F5344CB8AC3E}">
        <p14:creationId xmlns:p14="http://schemas.microsoft.com/office/powerpoint/2010/main" val="3912159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0B809-3C9C-17C8-1F5D-76061E5B9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Two </a:t>
            </a:r>
            <a:r>
              <a:rPr lang="de-DE" dirty="0" err="1"/>
              <a:t>seperate</a:t>
            </a:r>
            <a:r>
              <a:rPr lang="de-DE" dirty="0"/>
              <a:t> </a:t>
            </a:r>
            <a:r>
              <a:rPr lang="de-DE" dirty="0" err="1"/>
              <a:t>measurements</a:t>
            </a:r>
            <a:r>
              <a:rPr lang="de-DE" dirty="0"/>
              <a:t> – </a:t>
            </a:r>
            <a:r>
              <a:rPr lang="de-DE" dirty="0" err="1"/>
              <a:t>sign</a:t>
            </a:r>
            <a:r>
              <a:rPr lang="de-DE" dirty="0"/>
              <a:t> </a:t>
            </a:r>
            <a:r>
              <a:rPr lang="de-DE" dirty="0" err="1"/>
              <a:t>flip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B8A54A0-4631-707D-1DD0-6B0976BEC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14" y="1690688"/>
            <a:ext cx="8277675" cy="429080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1F8C1A0-B7FB-8696-AE64-5079DF68D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729" y="1692676"/>
            <a:ext cx="2695071" cy="200368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65D3663-02D7-3799-F6C5-2AEDD011A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729" y="3696364"/>
            <a:ext cx="2322330" cy="182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43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72A8-1739-C499-9559-3F16388F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CCF4B-FC2E-9453-1831-8874BEC81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Two </a:t>
            </a:r>
            <a:r>
              <a:rPr lang="de-DE" dirty="0" err="1"/>
              <a:t>seperate</a:t>
            </a:r>
            <a:r>
              <a:rPr lang="de-DE" dirty="0"/>
              <a:t> </a:t>
            </a:r>
            <a:r>
              <a:rPr lang="de-DE" dirty="0" err="1"/>
              <a:t>measurements</a:t>
            </a:r>
            <a:r>
              <a:rPr lang="de-DE" dirty="0"/>
              <a:t> – different </a:t>
            </a:r>
            <a:r>
              <a:rPr lang="de-DE" dirty="0" err="1"/>
              <a:t>counter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radar</a:t>
            </a:r>
            <a:r>
              <a:rPr lang="de-DE" dirty="0"/>
              <a:t> 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5B281EE-C20D-4EBD-FD5E-E92B0B057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84" y="1777325"/>
            <a:ext cx="5010149" cy="246784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A662C38-C20E-1BF4-C33E-92311CA63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339" y="4484535"/>
            <a:ext cx="2632670" cy="200833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74ED0BD-ECC5-0771-ADED-AAEC92688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5709" y="4331807"/>
            <a:ext cx="3040500" cy="2360388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365B875-CBB2-6C43-B69B-47D6E5A2D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448" y="1690688"/>
            <a:ext cx="5068537" cy="264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5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50E68-5B4A-ADCB-3FDF-186C5BBF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Calibrations</a:t>
            </a:r>
            <a:r>
              <a:rPr lang="de-DE" dirty="0"/>
              <a:t> </a:t>
            </a:r>
            <a:r>
              <a:rPr lang="de-DE" dirty="0" err="1"/>
              <a:t>seperate</a:t>
            </a:r>
            <a:r>
              <a:rPr lang="de-DE" dirty="0"/>
              <a:t> </a:t>
            </a:r>
            <a:r>
              <a:rPr lang="de-DE" dirty="0" err="1"/>
              <a:t>measurments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D15AD8F-82D5-622E-30E5-1863E27E9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142" y="1628566"/>
            <a:ext cx="1721861" cy="134902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F738A40-21EA-4167-117E-113AF1F045FC}"/>
              </a:ext>
            </a:extLst>
          </p:cNvPr>
          <p:cNvSpPr txBox="1"/>
          <p:nvPr/>
        </p:nvSpPr>
        <p:spPr>
          <a:xfrm>
            <a:off x="2950028" y="150602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0-3cm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160EEF7-4614-CB4F-09A1-485660921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663" y="1506021"/>
            <a:ext cx="2145649" cy="166172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D8A0A7E-F89E-A267-62D7-B96E620F8A9D}"/>
              </a:ext>
            </a:extLst>
          </p:cNvPr>
          <p:cNvSpPr txBox="1"/>
          <p:nvPr/>
        </p:nvSpPr>
        <p:spPr>
          <a:xfrm>
            <a:off x="6598085" y="1506022"/>
            <a:ext cx="81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0-1cm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87D78C0-ACC9-BAC8-EA25-8B22895AD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305" y="1628566"/>
            <a:ext cx="2194932" cy="1661721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C1499C8-FF68-D586-9EBC-CE9D156BAB2D}"/>
              </a:ext>
            </a:extLst>
          </p:cNvPr>
          <p:cNvSpPr txBox="1"/>
          <p:nvPr/>
        </p:nvSpPr>
        <p:spPr>
          <a:xfrm>
            <a:off x="10465516" y="1628566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0-5mm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8248ED1-0F3F-56C9-F9AC-A04D37891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299" y="3695736"/>
            <a:ext cx="2221729" cy="165455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4EC772F7-A201-11B4-2ED2-BEAF2A8B006E}"/>
              </a:ext>
            </a:extLst>
          </p:cNvPr>
          <p:cNvSpPr txBox="1"/>
          <p:nvPr/>
        </p:nvSpPr>
        <p:spPr>
          <a:xfrm>
            <a:off x="2950027" y="382090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0-2cm</a:t>
            </a:r>
          </a:p>
        </p:txBody>
      </p:sp>
    </p:spTree>
    <p:extLst>
      <p:ext uri="{BB962C8B-B14F-4D97-AF65-F5344CB8AC3E}">
        <p14:creationId xmlns:p14="http://schemas.microsoft.com/office/powerpoint/2010/main" val="3773570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3D23E-F0C3-4280-10E5-E41CA0B9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724DEC-BBB4-AC1F-3CF5-DEA1455F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Calibrations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measurement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377117-C9ED-013A-956F-36B591CA0A5E}"/>
              </a:ext>
            </a:extLst>
          </p:cNvPr>
          <p:cNvSpPr txBox="1"/>
          <p:nvPr/>
        </p:nvSpPr>
        <p:spPr>
          <a:xfrm>
            <a:off x="2950028" y="150602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0-3cm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975CF41-D1CF-8153-10F3-1281F1C29473}"/>
              </a:ext>
            </a:extLst>
          </p:cNvPr>
          <p:cNvSpPr txBox="1"/>
          <p:nvPr/>
        </p:nvSpPr>
        <p:spPr>
          <a:xfrm>
            <a:off x="6598085" y="1506022"/>
            <a:ext cx="1000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0-1,5cm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06EDE40-55A5-C00B-3B2A-FEB67B12A518}"/>
              </a:ext>
            </a:extLst>
          </p:cNvPr>
          <p:cNvSpPr txBox="1"/>
          <p:nvPr/>
        </p:nvSpPr>
        <p:spPr>
          <a:xfrm>
            <a:off x="10746941" y="1506022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0-5mm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AA55D45-1A2E-CD24-AF62-E0765B0A4CB5}"/>
              </a:ext>
            </a:extLst>
          </p:cNvPr>
          <p:cNvSpPr txBox="1"/>
          <p:nvPr/>
        </p:nvSpPr>
        <p:spPr>
          <a:xfrm>
            <a:off x="2950027" y="3820900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0-2cm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42B6F61-52B0-B9B5-8B71-39F3859D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44" y="1402655"/>
            <a:ext cx="2484305" cy="193361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EF0E843-3AF2-55BA-9217-DCC83EC86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96" y="3820900"/>
            <a:ext cx="2636553" cy="2006542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08142FB4-6F9B-D98F-FA69-BB6DB25F075D}"/>
              </a:ext>
            </a:extLst>
          </p:cNvPr>
          <p:cNvSpPr txBox="1"/>
          <p:nvPr/>
        </p:nvSpPr>
        <p:spPr>
          <a:xfrm>
            <a:off x="6598085" y="3820900"/>
            <a:ext cx="81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0-1cm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93FC20B-3655-6B28-EA2B-020CC6DCB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341" y="1431325"/>
            <a:ext cx="2730503" cy="216431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50E3B2F-503C-EF9A-B815-B8A8DA132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619" y="3820900"/>
            <a:ext cx="2527816" cy="1941898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4E07535-B154-9A48-D20E-B863CC1CE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1778" y="1431325"/>
            <a:ext cx="2780387" cy="210719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F8C352C-8338-6C3A-F0DE-07948ECF23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6970" y="3920121"/>
            <a:ext cx="2527816" cy="191964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84A6202-1FD9-882E-E4D1-2792485BFFBB}"/>
              </a:ext>
            </a:extLst>
          </p:cNvPr>
          <p:cNvSpPr txBox="1"/>
          <p:nvPr/>
        </p:nvSpPr>
        <p:spPr>
          <a:xfrm>
            <a:off x="10632165" y="3820900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0-2,5mm</a:t>
            </a:r>
          </a:p>
        </p:txBody>
      </p:sp>
    </p:spTree>
    <p:extLst>
      <p:ext uri="{BB962C8B-B14F-4D97-AF65-F5344CB8AC3E}">
        <p14:creationId xmlns:p14="http://schemas.microsoft.com/office/powerpoint/2010/main" val="3078063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74D7-310F-9B88-0E47-8B6A4977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47809-FBF3-33E4-A7F7-A2FAA5FB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Calibrations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measurement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C810792-AFFB-47FD-148F-AFE53E374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46" y="2032043"/>
            <a:ext cx="3912279" cy="303293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2290DB2-01DC-9AA2-A923-E080CEFA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943" y="2032043"/>
            <a:ext cx="3819485" cy="292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56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8ED0-6B9C-1D7E-0F81-5D03A714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0F0DC9-B512-1AD9-3A1D-CE534A608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Calibrations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measurement</a:t>
            </a:r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5FF86851-6366-29C9-04AB-0683EC396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746937"/>
              </p:ext>
            </p:extLst>
          </p:nvPr>
        </p:nvGraphicFramePr>
        <p:xfrm>
          <a:off x="256197" y="1690688"/>
          <a:ext cx="3179024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512">
                  <a:extLst>
                    <a:ext uri="{9D8B030D-6E8A-4147-A177-3AD203B41FA5}">
                      <a16:colId xmlns:a16="http://schemas.microsoft.com/office/drawing/2014/main" val="1940868543"/>
                    </a:ext>
                  </a:extLst>
                </a:gridCol>
                <a:gridCol w="1589512">
                  <a:extLst>
                    <a:ext uri="{9D8B030D-6E8A-4147-A177-3AD203B41FA5}">
                      <a16:colId xmlns:a16="http://schemas.microsoft.com/office/drawing/2014/main" val="16598280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Calibration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96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0-3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72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0-2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29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0-1,5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305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0-1 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71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0-5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97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0-2,5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095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RND 0-3cm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408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RND 0,5-2,5cm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06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RND 1-2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124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RND1,25-1,75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356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978489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94D99FFB-CF6A-EF7A-3BFD-2878099F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387" y="2566431"/>
            <a:ext cx="3669572" cy="332218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114680E-2DC1-C9B7-6AD8-078ACFEA6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125" y="2402203"/>
            <a:ext cx="4079827" cy="365063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BFA9611-3E2D-D1D9-84C9-CE024A7CFBBB}"/>
              </a:ext>
            </a:extLst>
          </p:cNvPr>
          <p:cNvSpPr txBox="1"/>
          <p:nvPr/>
        </p:nvSpPr>
        <p:spPr>
          <a:xfrm>
            <a:off x="4552336" y="1861779"/>
            <a:ext cx="23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Segmentation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PCA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7569EF9-9C87-853E-C7B6-B3D274FDC051}"/>
              </a:ext>
            </a:extLst>
          </p:cNvPr>
          <p:cNvSpPr txBox="1"/>
          <p:nvPr/>
        </p:nvSpPr>
        <p:spPr>
          <a:xfrm>
            <a:off x="8863781" y="1861779"/>
            <a:ext cx="23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PCA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Segmentation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F7E8224-2FA0-4E8F-0B44-D7BFD7AA90EA}"/>
              </a:ext>
            </a:extLst>
          </p:cNvPr>
          <p:cNvSpPr txBox="1"/>
          <p:nvPr/>
        </p:nvSpPr>
        <p:spPr>
          <a:xfrm>
            <a:off x="10868765" y="5969655"/>
            <a:ext cx="1377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BUT</a:t>
            </a:r>
            <a:r>
              <a:rPr lang="de-DE" dirty="0"/>
              <a:t> </a:t>
            </a:r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4AC214B1-377A-407D-0554-3D96DD6AE902}"/>
              </a:ext>
            </a:extLst>
          </p:cNvPr>
          <p:cNvSpPr/>
          <p:nvPr/>
        </p:nvSpPr>
        <p:spPr>
          <a:xfrm>
            <a:off x="10973579" y="6358582"/>
            <a:ext cx="1091381" cy="442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8950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56440-72FA-AE11-1D93-97F440A2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8BE27-8E45-566B-1995-9239D062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Calibrations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measurement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0DC9F41-721C-458E-C7E4-A5ECB156F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2540621"/>
            <a:ext cx="5093110" cy="395225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80C138D6-85D7-1574-DC07-7C2217E858FC}"/>
              </a:ext>
            </a:extLst>
          </p:cNvPr>
          <p:cNvSpPr txBox="1"/>
          <p:nvPr/>
        </p:nvSpPr>
        <p:spPr>
          <a:xfrm>
            <a:off x="2015630" y="1930988"/>
            <a:ext cx="23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Segmentation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PCA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D7114EF-3348-79BC-4103-D0908B631D07}"/>
              </a:ext>
            </a:extLst>
          </p:cNvPr>
          <p:cNvSpPr txBox="1"/>
          <p:nvPr/>
        </p:nvSpPr>
        <p:spPr>
          <a:xfrm>
            <a:off x="7595419" y="1930988"/>
            <a:ext cx="23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PCA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Segmentation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E2D8920-080C-61BE-D552-D55F391CC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612" y="2597699"/>
            <a:ext cx="4969991" cy="383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69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4F7D4-BEEF-B996-EC2B-3699C821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50F49-0D21-8979-FADD-5658AA65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br>
              <a:rPr lang="de-DE" dirty="0"/>
            </a:b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31CC4BF-F56D-3E3D-1ACD-87CD0AE8BB37}"/>
              </a:ext>
            </a:extLst>
          </p:cNvPr>
          <p:cNvSpPr txBox="1"/>
          <p:nvPr/>
        </p:nvSpPr>
        <p:spPr>
          <a:xfrm>
            <a:off x="1143000" y="1993900"/>
            <a:ext cx="311405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Translation?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Weights</a:t>
            </a:r>
            <a:r>
              <a:rPr lang="de-DE" sz="2400" dirty="0"/>
              <a:t> and </a:t>
            </a:r>
            <a:r>
              <a:rPr lang="de-DE" sz="2400" dirty="0" err="1"/>
              <a:t>Biases</a:t>
            </a:r>
            <a:endParaRPr lang="de-DE" sz="2400" dirty="0"/>
          </a:p>
          <a:p>
            <a:pPr lvl="1"/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Error </a:t>
            </a:r>
            <a:r>
              <a:rPr lang="de-DE" sz="2400" dirty="0" err="1"/>
              <a:t>Calculation</a:t>
            </a:r>
            <a:endParaRPr lang="de-DE" sz="2400" dirty="0"/>
          </a:p>
          <a:p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2nd </a:t>
            </a:r>
            <a:r>
              <a:rPr lang="de-DE" sz="2400" dirty="0" err="1"/>
              <a:t>movement</a:t>
            </a:r>
            <a:endParaRPr lang="de-DE" sz="2400" dirty="0"/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690262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BC5B12-68CD-5BE5-4CD5-026B9450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br>
              <a:rPr lang="de-DE" dirty="0"/>
            </a:b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F8E1CEC-BA74-EE44-30A7-10FC32A717EC}"/>
              </a:ext>
            </a:extLst>
          </p:cNvPr>
          <p:cNvSpPr txBox="1"/>
          <p:nvPr/>
        </p:nvSpPr>
        <p:spPr>
          <a:xfrm>
            <a:off x="1143000" y="1993900"/>
            <a:ext cx="833997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 Best </a:t>
            </a:r>
            <a:r>
              <a:rPr lang="de-DE" sz="2400" dirty="0" err="1"/>
              <a:t>way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find optimal </a:t>
            </a:r>
            <a:r>
              <a:rPr lang="de-DE" sz="2400" dirty="0" err="1"/>
              <a:t>translation</a:t>
            </a:r>
            <a:r>
              <a:rPr lang="de-DE" sz="2400" dirty="0"/>
              <a:t>?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de-DE" sz="2400" dirty="0" err="1"/>
              <a:t>Optimization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RMSE?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de-DE" sz="2400" dirty="0" err="1"/>
              <a:t>Calibration</a:t>
            </a:r>
            <a:r>
              <a:rPr lang="de-DE" sz="2400" dirty="0"/>
              <a:t> </a:t>
            </a:r>
            <a:r>
              <a:rPr lang="de-DE" sz="2400" dirty="0" err="1"/>
              <a:t>measurment</a:t>
            </a:r>
            <a:r>
              <a:rPr lang="de-DE" sz="2400" dirty="0"/>
              <a:t> </a:t>
            </a:r>
            <a:r>
              <a:rPr lang="de-DE" sz="2400" dirty="0" err="1"/>
              <a:t>right</a:t>
            </a:r>
            <a:r>
              <a:rPr lang="de-DE" sz="2400" dirty="0"/>
              <a:t> </a:t>
            </a:r>
            <a:r>
              <a:rPr lang="de-DE" sz="2400" dirty="0" err="1"/>
              <a:t>before</a:t>
            </a:r>
            <a:r>
              <a:rPr lang="de-DE" sz="2400" dirty="0"/>
              <a:t> </a:t>
            </a:r>
            <a:r>
              <a:rPr lang="de-DE" sz="2400" dirty="0" err="1"/>
              <a:t>other</a:t>
            </a:r>
            <a:r>
              <a:rPr lang="de-DE" sz="2400" dirty="0"/>
              <a:t> </a:t>
            </a:r>
            <a:r>
              <a:rPr lang="de-DE" sz="2400" dirty="0" err="1"/>
              <a:t>measurment</a:t>
            </a:r>
            <a:endParaRPr lang="de-DE" sz="2400" dirty="0"/>
          </a:p>
          <a:p>
            <a:pPr lvl="1"/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Error </a:t>
            </a:r>
            <a:r>
              <a:rPr lang="de-DE" sz="2400" dirty="0" err="1"/>
              <a:t>Calculation</a:t>
            </a:r>
            <a:endParaRPr lang="de-DE" sz="2400" dirty="0"/>
          </a:p>
          <a:p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U-Net </a:t>
            </a:r>
            <a:r>
              <a:rPr lang="de-DE" sz="2400" dirty="0" err="1"/>
              <a:t>integration</a:t>
            </a:r>
            <a:endParaRPr lang="de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/>
              <a:t>2nd </a:t>
            </a:r>
            <a:r>
              <a:rPr lang="de-DE" sz="2400" dirty="0" err="1"/>
              <a:t>movement</a:t>
            </a:r>
            <a:endParaRPr lang="de-DE" sz="2400" dirty="0"/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819169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7E0C3C2-42F8-9020-BB19-8B7ACD9CFF73}"/>
              </a:ext>
            </a:extLst>
          </p:cNvPr>
          <p:cNvSpPr txBox="1"/>
          <p:nvPr/>
        </p:nvSpPr>
        <p:spPr>
          <a:xfrm>
            <a:off x="1620078" y="646043"/>
            <a:ext cx="136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Next </a:t>
            </a:r>
            <a:r>
              <a:rPr lang="de-DE" dirty="0" err="1"/>
              <a:t>Steps</a:t>
            </a:r>
            <a:r>
              <a:rPr lang="de-DE" dirty="0"/>
              <a:t>?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86DD3EF-2B4F-9524-0FCD-00C9A5F031B9}"/>
              </a:ext>
            </a:extLst>
          </p:cNvPr>
          <p:cNvSpPr txBox="1"/>
          <p:nvPr/>
        </p:nvSpPr>
        <p:spPr>
          <a:xfrm>
            <a:off x="546652" y="1295400"/>
            <a:ext cx="78481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Korrelation von Motor zu PCA?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2. Bewegungsdimension? Wie bekomme ich meine Bewegungsdimension?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Schädeldruck?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D8244A7-E793-3042-C322-EE1B77BC8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70" y="2383230"/>
            <a:ext cx="4316659" cy="349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75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Breitbild</PresentationFormat>
  <Paragraphs>174</Paragraphs>
  <Slides>38</Slides>
  <Notes>0</Notes>
  <HiddenSlides>4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Wingdings</vt:lpstr>
      <vt:lpstr>Office</vt:lpstr>
      <vt:lpstr>Protokoll </vt:lpstr>
      <vt:lpstr>UWB first tests</vt:lpstr>
      <vt:lpstr>Stepper Motor Mechanical Data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Linear Regression Comparison - Calibration</vt:lpstr>
      <vt:lpstr>Movement Prediction:</vt:lpstr>
      <vt:lpstr>Better motor tracking</vt:lpstr>
      <vt:lpstr>With 3cm calibration</vt:lpstr>
      <vt:lpstr>With 3 cm calibration</vt:lpstr>
      <vt:lpstr>With 1 cm calibration</vt:lpstr>
      <vt:lpstr>RMSE</vt:lpstr>
      <vt:lpstr>PCA</vt:lpstr>
      <vt:lpstr>Pca </vt:lpstr>
      <vt:lpstr>Slow calibration and no extremes</vt:lpstr>
      <vt:lpstr>Split measurement - No sign flip</vt:lpstr>
      <vt:lpstr>one split measurement - No sign flip</vt:lpstr>
      <vt:lpstr>One split measurement - No sign flip</vt:lpstr>
      <vt:lpstr>Two seperate measurements – sign flip</vt:lpstr>
      <vt:lpstr>Two seperate measurements – different counter position of radar  </vt:lpstr>
      <vt:lpstr>Calibrations seperate measurments</vt:lpstr>
      <vt:lpstr>Calibrations one measurement</vt:lpstr>
      <vt:lpstr>Calibrations one measurement</vt:lpstr>
      <vt:lpstr>Calibrations one measurement</vt:lpstr>
      <vt:lpstr>Calibrations one measurement</vt:lpstr>
      <vt:lpstr>Next Steps </vt:lpstr>
      <vt:lpstr>Next Steps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Steffen Sigwart</dc:creator>
  <cp:lastModifiedBy>Steffen Sigwart</cp:lastModifiedBy>
  <cp:revision>24</cp:revision>
  <dcterms:created xsi:type="dcterms:W3CDTF">2026-05-20T13:07:54Z</dcterms:created>
  <dcterms:modified xsi:type="dcterms:W3CDTF">2026-07-21T10:17:47Z</dcterms:modified>
</cp:coreProperties>
</file>